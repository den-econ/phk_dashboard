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48" r:id="rId3"/>
    <p:sldId id="349" r:id="rId4"/>
    <p:sldId id="354" r:id="rId5"/>
    <p:sldId id="355" r:id="rId6"/>
    <p:sldId id="356" r:id="rId7"/>
    <p:sldId id="357" r:id="rId8"/>
    <p:sldId id="353" r:id="rId9"/>
    <p:sldId id="27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jt3wpXB0n3Zn36t7m9stvz2Fg5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9C"/>
    <a:srgbClr val="FBEEC9"/>
    <a:srgbClr val="A42620"/>
    <a:srgbClr val="F4F3DD"/>
    <a:srgbClr val="F0F0FF"/>
    <a:srgbClr val="CCCCFF"/>
    <a:srgbClr val="E4EBF8"/>
    <a:srgbClr val="CAD7F2"/>
    <a:srgbClr val="FFFFFF"/>
    <a:srgbClr val="FFC7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4DDEE-9A64-46BB-8622-7DE4756E31F5}" v="117" dt="2026-06-30T11:14:12.507"/>
    <p1510:client id="{E4580C44-534A-478D-8B3F-DFEE16C2C84F}" v="1" dt="2026-06-30T12:28:12.494"/>
  </p1510:revLst>
</p1510:revInfo>
</file>

<file path=ppt/tableStyles.xml><?xml version="1.0" encoding="utf-8"?>
<a:tblStyleLst xmlns:a="http://schemas.openxmlformats.org/drawingml/2006/main" def="{0F5A2348-38C3-4EAF-B8FD-D13785A289C4}">
  <a:tblStyle styleId="{0F5A2348-38C3-4EAF-B8FD-D13785A289C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4A36D9-7608-4461-8670-71A5502E1AF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4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Ginting" userId="7201a49d7b087256" providerId="LiveId" clId="{381FEABE-BE9D-433B-90E1-5C6531183A75}"/>
    <pc:docChg chg="undo custSel modSld">
      <pc:chgData name="Tim Ginting" userId="7201a49d7b087256" providerId="LiveId" clId="{381FEABE-BE9D-433B-90E1-5C6531183A75}" dt="2026-06-30T12:53:35.290" v="125" actId="478"/>
      <pc:docMkLst>
        <pc:docMk/>
      </pc:docMkLst>
      <pc:sldChg chg="delSp modSp mod">
        <pc:chgData name="Tim Ginting" userId="7201a49d7b087256" providerId="LiveId" clId="{381FEABE-BE9D-433B-90E1-5C6531183A75}" dt="2026-06-30T12:53:35.290" v="125" actId="478"/>
        <pc:sldMkLst>
          <pc:docMk/>
          <pc:sldMk cId="2558294819" sldId="353"/>
        </pc:sldMkLst>
        <pc:spChg chg="del mod">
          <ac:chgData name="Tim Ginting" userId="7201a49d7b087256" providerId="LiveId" clId="{381FEABE-BE9D-433B-90E1-5C6531183A75}" dt="2026-06-30T12:53:30.748" v="123" actId="478"/>
          <ac:spMkLst>
            <pc:docMk/>
            <pc:sldMk cId="2558294819" sldId="353"/>
            <ac:spMk id="102" creationId="{00000000-0000-0000-0000-000000000000}"/>
          </ac:spMkLst>
        </pc:spChg>
        <pc:spChg chg="del">
          <ac:chgData name="Tim Ginting" userId="7201a49d7b087256" providerId="LiveId" clId="{381FEABE-BE9D-433B-90E1-5C6531183A75}" dt="2026-06-30T12:53:33.265" v="124" actId="478"/>
          <ac:spMkLst>
            <pc:docMk/>
            <pc:sldMk cId="2558294819" sldId="353"/>
            <ac:spMk id="107" creationId="{00000000-0000-0000-0000-000000000000}"/>
          </ac:spMkLst>
        </pc:spChg>
        <pc:spChg chg="del">
          <ac:chgData name="Tim Ginting" userId="7201a49d7b087256" providerId="LiveId" clId="{381FEABE-BE9D-433B-90E1-5C6531183A75}" dt="2026-06-30T12:53:35.290" v="125" actId="478"/>
          <ac:spMkLst>
            <pc:docMk/>
            <pc:sldMk cId="2558294819" sldId="353"/>
            <ac:spMk id="112" creationId="{00000000-0000-0000-0000-000000000000}"/>
          </ac:spMkLst>
        </pc:spChg>
      </pc:sldChg>
      <pc:sldChg chg="addSp modSp mod">
        <pc:chgData name="Tim Ginting" userId="7201a49d7b087256" providerId="LiveId" clId="{381FEABE-BE9D-433B-90E1-5C6531183A75}" dt="2026-06-30T12:30:02.681" v="120" actId="1076"/>
        <pc:sldMkLst>
          <pc:docMk/>
          <pc:sldMk cId="2667883101" sldId="354"/>
        </pc:sldMkLst>
        <pc:spChg chg="add mod">
          <ac:chgData name="Tim Ginting" userId="7201a49d7b087256" providerId="LiveId" clId="{381FEABE-BE9D-433B-90E1-5C6531183A75}" dt="2026-06-30T12:30:02.681" v="120" actId="1076"/>
          <ac:spMkLst>
            <pc:docMk/>
            <pc:sldMk cId="2667883101" sldId="354"/>
            <ac:spMk id="3" creationId="{8813B042-B358-07CF-9065-70EA705D6E72}"/>
          </ac:spMkLst>
        </pc:spChg>
        <pc:spChg chg="mod">
          <ac:chgData name="Tim Ginting" userId="7201a49d7b087256" providerId="LiveId" clId="{381FEABE-BE9D-433B-90E1-5C6531183A75}" dt="2026-06-30T12:24:15.746" v="9" actId="1076"/>
          <ac:spMkLst>
            <pc:docMk/>
            <pc:sldMk cId="2667883101" sldId="354"/>
            <ac:spMk id="100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5:29.643" v="22" actId="113"/>
          <ac:spMkLst>
            <pc:docMk/>
            <pc:sldMk cId="2667883101" sldId="354"/>
            <ac:spMk id="101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4:28.724" v="11" actId="1076"/>
          <ac:spMkLst>
            <pc:docMk/>
            <pc:sldMk cId="2667883101" sldId="354"/>
            <ac:spMk id="102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7:22.210" v="35" actId="113"/>
          <ac:spMkLst>
            <pc:docMk/>
            <pc:sldMk cId="2667883101" sldId="354"/>
            <ac:spMk id="103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4:32.327" v="12" actId="1076"/>
          <ac:spMkLst>
            <pc:docMk/>
            <pc:sldMk cId="2667883101" sldId="354"/>
            <ac:spMk id="104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6:11.469" v="29" actId="113"/>
          <ac:spMkLst>
            <pc:docMk/>
            <pc:sldMk cId="2667883101" sldId="354"/>
            <ac:spMk id="105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4:56.218" v="18" actId="1076"/>
          <ac:spMkLst>
            <pc:docMk/>
            <pc:sldMk cId="2667883101" sldId="354"/>
            <ac:spMk id="106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7:28.444" v="36" actId="113"/>
          <ac:spMkLst>
            <pc:docMk/>
            <pc:sldMk cId="2667883101" sldId="354"/>
            <ac:spMk id="107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5:02.778" v="19" actId="1076"/>
          <ac:spMkLst>
            <pc:docMk/>
            <pc:sldMk cId="2667883101" sldId="354"/>
            <ac:spMk id="108" creationId="{00000000-0000-0000-0000-000000000000}"/>
          </ac:spMkLst>
        </pc:spChg>
        <pc:spChg chg="mod">
          <ac:chgData name="Tim Ginting" userId="7201a49d7b087256" providerId="LiveId" clId="{381FEABE-BE9D-433B-90E1-5C6531183A75}" dt="2026-06-30T12:27:36.945" v="37" actId="113"/>
          <ac:spMkLst>
            <pc:docMk/>
            <pc:sldMk cId="2667883101" sldId="354"/>
            <ac:spMk id="10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0896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E70F-CFA9-C23B-44CC-07AB3045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041F-F781-955A-2FB9-EDF087D8D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24105-2D86-715D-37E6-9A1025310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B1D5-00F1-7F0C-F13B-54CEBB2C10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1295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2E49-388A-6CC5-9D0A-50163967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784ED-8E56-7D25-5C10-B604FCF08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98E96-A84A-CB84-4184-0EA568F16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BD2EB-A2C7-A00C-405F-48A4A414F2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617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C93DC-94A1-06AE-0157-EA7DDAFA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F1C93-32C1-D8C5-27D9-61F467647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B4242-0617-28FF-44BE-877628091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1F6BF-C439-A13F-F642-BE40C886F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7067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_Garuda">
  <p:cSld name="1_Title_Garuda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4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4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6" y="-844487"/>
            <a:ext cx="3177488" cy="117469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4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4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24"/>
          <p:cNvCxnSpPr/>
          <p:nvPr/>
        </p:nvCxnSpPr>
        <p:spPr>
          <a:xfrm>
            <a:off x="2234985" y="4091054"/>
            <a:ext cx="794437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24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" name="Google Shape;22;p24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82389" y="836134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_Marves">
  <p:cSld name="Content_Marve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7B4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/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9057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25" descr="A white circle with a gold eagle and black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01793" y="224100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_Garuda">
  <p:cSld name="2_Title_Garuda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7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7"/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>
            <a:gsLst>
              <a:gs pos="0">
                <a:srgbClr val="FFFFFF">
                  <a:alpha val="69411"/>
                </a:srgbClr>
              </a:gs>
              <a:gs pos="55000">
                <a:srgbClr val="FFFFFF">
                  <a:alpha val="69411"/>
                </a:srgbClr>
              </a:gs>
              <a:gs pos="100000">
                <a:srgbClr val="FFFFFF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7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7"/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603A14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7" descr="A white circle with a gold eagle and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3999" y="831254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_Marves">
  <p:cSld name="1_Content_Marv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9"/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7B4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9"/>
          <p:cNvSpPr txBox="1"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/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9057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9" descr="A white circle with a gold eagle and black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89727" y="212034"/>
            <a:ext cx="888131" cy="888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6a7884597f_0_124"/>
          <p:cNvSpPr txBox="1">
            <a:spLocks noGrp="1"/>
          </p:cNvSpPr>
          <p:nvPr>
            <p:ph type="dt" idx="10"/>
          </p:nvPr>
        </p:nvSpPr>
        <p:spPr>
          <a:xfrm>
            <a:off x="71893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36a7884597f_0_1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g36a7884597f_0_124"/>
          <p:cNvSpPr txBox="1">
            <a:spLocks noGrp="1"/>
          </p:cNvSpPr>
          <p:nvPr>
            <p:ph type="body" idx="1"/>
          </p:nvPr>
        </p:nvSpPr>
        <p:spPr>
          <a:xfrm>
            <a:off x="718930" y="1606163"/>
            <a:ext cx="10635000" cy="4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_Garuda">
  <p:cSld name="3_Title_Garu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8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8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07707" y="624850"/>
            <a:ext cx="8814405" cy="644161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8"/>
          <p:cNvSpPr txBox="1"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5" name="Google Shape;55;p28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84" y="684071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_DEN_Eng">
  <p:cSld name="SubTitle_DEN_Eng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g34dcf040a57_0_65"/>
          <p:cNvPicPr preferRelativeResize="0"/>
          <p:nvPr/>
        </p:nvPicPr>
        <p:blipFill rotWithShape="1">
          <a:blip r:embed="rId2">
            <a:alphaModFix/>
          </a:blip>
          <a:srcRect t="28178" b="28180"/>
          <a:stretch/>
        </p:blipFill>
        <p:spPr>
          <a:xfrm>
            <a:off x="222503" y="187401"/>
            <a:ext cx="11746993" cy="641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4dcf040a57_0_65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502" y="164879"/>
            <a:ext cx="8814405" cy="644160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4dcf040a57_0_65"/>
          <p:cNvSpPr txBox="1">
            <a:spLocks noGrp="1"/>
          </p:cNvSpPr>
          <p:nvPr>
            <p:ph type="subTitle" idx="1"/>
          </p:nvPr>
        </p:nvSpPr>
        <p:spPr>
          <a:xfrm>
            <a:off x="571584" y="3385684"/>
            <a:ext cx="42804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60" name="Google Shape;60;g34dcf040a57_0_65" descr="A white circle with a gold eagle and a st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84" y="469760"/>
            <a:ext cx="932398" cy="93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DEN_bhs">
  <p:cSld name="Title_DEN_bh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dcf040a57_0_201"/>
          <p:cNvPicPr preferRelativeResize="0"/>
          <p:nvPr/>
        </p:nvPicPr>
        <p:blipFill rotWithShape="1">
          <a:blip r:embed="rId2">
            <a:alphaModFix/>
          </a:blip>
          <a:srcRect t="28178" b="28180"/>
          <a:stretch/>
        </p:blipFill>
        <p:spPr>
          <a:xfrm>
            <a:off x="222503" y="187401"/>
            <a:ext cx="11746993" cy="641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4dcf040a57_0_201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5" y="-844487"/>
            <a:ext cx="3177488" cy="1174699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4dcf040a57_0_201"/>
          <p:cNvSpPr txBox="1"/>
          <p:nvPr/>
        </p:nvSpPr>
        <p:spPr>
          <a:xfrm>
            <a:off x="3001861" y="1772287"/>
            <a:ext cx="6188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4dcf040a57_0_201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5000" cy="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6" name="Google Shape;66;g34dcf040a57_0_201"/>
          <p:cNvCxnSpPr/>
          <p:nvPr/>
        </p:nvCxnSpPr>
        <p:spPr>
          <a:xfrm>
            <a:off x="2234985" y="4091054"/>
            <a:ext cx="79443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g34dcf040a57_0_201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50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68" name="Google Shape;68;g34dcf040a57_0_201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3999" y="908286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_DEN_bhs">
  <p:cSld name="Closing_DEN_bh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34dcf040a57_0_216"/>
          <p:cNvPicPr preferRelativeResize="0"/>
          <p:nvPr/>
        </p:nvPicPr>
        <p:blipFill rotWithShape="1">
          <a:blip r:embed="rId2">
            <a:alphaModFix/>
          </a:blip>
          <a:srcRect t="28178" b="28180"/>
          <a:stretch/>
        </p:blipFill>
        <p:spPr>
          <a:xfrm>
            <a:off x="222503" y="187401"/>
            <a:ext cx="11746993" cy="6419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4dcf040a57_0_216"/>
          <p:cNvSpPr/>
          <p:nvPr/>
        </p:nvSpPr>
        <p:spPr>
          <a:xfrm>
            <a:off x="58723" y="-258737"/>
            <a:ext cx="12192000" cy="6929400"/>
          </a:xfrm>
          <a:prstGeom prst="rect">
            <a:avLst/>
          </a:prstGeom>
          <a:gradFill>
            <a:gsLst>
              <a:gs pos="0">
                <a:srgbClr val="FFFFFF">
                  <a:alpha val="69019"/>
                </a:srgbClr>
              </a:gs>
              <a:gs pos="55000">
                <a:srgbClr val="FFFFFF">
                  <a:alpha val="69019"/>
                </a:srgbClr>
              </a:gs>
              <a:gs pos="100000">
                <a:srgbClr val="FFFFFF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4dcf040a57_0_216"/>
          <p:cNvSpPr txBox="1"/>
          <p:nvPr/>
        </p:nvSpPr>
        <p:spPr>
          <a:xfrm>
            <a:off x="3001861" y="1772287"/>
            <a:ext cx="6188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4dcf040a57_0_216"/>
          <p:cNvSpPr txBox="1"/>
          <p:nvPr/>
        </p:nvSpPr>
        <p:spPr>
          <a:xfrm>
            <a:off x="3200942" y="3266009"/>
            <a:ext cx="5907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90571E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g34dcf040a57_0_216" descr="A white circle with a gold eagle and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2723" y="908287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DEN_eng">
  <p:cSld name="Title_DEN_eng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4dcf040a57_0_222"/>
          <p:cNvPicPr preferRelativeResize="0"/>
          <p:nvPr/>
        </p:nvPicPr>
        <p:blipFill rotWithShape="1">
          <a:blip r:embed="rId2">
            <a:alphaModFix/>
          </a:blip>
          <a:srcRect t="28178" b="28180"/>
          <a:stretch/>
        </p:blipFill>
        <p:spPr>
          <a:xfrm>
            <a:off x="222503" y="187401"/>
            <a:ext cx="11746993" cy="641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4dcf040a57_0_222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5" y="-844487"/>
            <a:ext cx="3177488" cy="1174699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4dcf040a57_0_222"/>
          <p:cNvSpPr txBox="1"/>
          <p:nvPr/>
        </p:nvSpPr>
        <p:spPr>
          <a:xfrm>
            <a:off x="3001861" y="1772287"/>
            <a:ext cx="6188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NATIONAL ECONOMIC COUNCIL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REPUBLIC OF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4dcf040a57_0_222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5000" cy="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0" name="Google Shape;80;g34dcf040a57_0_222"/>
          <p:cNvCxnSpPr/>
          <p:nvPr/>
        </p:nvCxnSpPr>
        <p:spPr>
          <a:xfrm>
            <a:off x="2234985" y="4091054"/>
            <a:ext cx="79443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" name="Google Shape;81;g34dcf040a57_0_222"/>
          <p:cNvSpPr txBox="1"/>
          <p:nvPr/>
        </p:nvSpPr>
        <p:spPr>
          <a:xfrm>
            <a:off x="3142218" y="4257680"/>
            <a:ext cx="5907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General (Ret) Luhut B. Pandjaitan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Chairman of the National Economic Council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4dcf040a57_0_222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5000" cy="6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3" name="Google Shape;83;g34dcf040a57_0_222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3999" y="908286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_DEN_Eng">
  <p:cSld name="1_Content_DEN_Eng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dcf040a57_0_236"/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4dcf040a57_0_236"/>
          <p:cNvSpPr/>
          <p:nvPr/>
        </p:nvSpPr>
        <p:spPr>
          <a:xfrm rot="5400000">
            <a:off x="140663" y="619318"/>
            <a:ext cx="632400" cy="73500"/>
          </a:xfrm>
          <a:prstGeom prst="rect">
            <a:avLst/>
          </a:prstGeom>
          <a:solidFill>
            <a:srgbClr val="7B4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4dcf040a57_0_236"/>
          <p:cNvSpPr/>
          <p:nvPr/>
        </p:nvSpPr>
        <p:spPr>
          <a:xfrm>
            <a:off x="-1" y="6472057"/>
            <a:ext cx="597600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4dcf040a57_0_236"/>
          <p:cNvSpPr txBox="1">
            <a:spLocks noGrp="1"/>
          </p:cNvSpPr>
          <p:nvPr>
            <p:ph type="title"/>
          </p:nvPr>
        </p:nvSpPr>
        <p:spPr>
          <a:xfrm>
            <a:off x="558207" y="339868"/>
            <a:ext cx="106182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4dcf040a57_0_236"/>
          <p:cNvSpPr txBox="1"/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9057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34dcf040a57_0_236" descr="A white circle with a gold eagle and a sta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7593" y="189900"/>
            <a:ext cx="932398" cy="93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_DEN_eng">
  <p:cSld name="Closing_DEN_eng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4dcf040a57_0_243"/>
          <p:cNvPicPr preferRelativeResize="0"/>
          <p:nvPr/>
        </p:nvPicPr>
        <p:blipFill rotWithShape="1">
          <a:blip r:embed="rId2">
            <a:alphaModFix/>
          </a:blip>
          <a:srcRect t="28178" b="28180"/>
          <a:stretch/>
        </p:blipFill>
        <p:spPr>
          <a:xfrm>
            <a:off x="222503" y="187401"/>
            <a:ext cx="11746993" cy="641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4dcf040a57_0_243"/>
          <p:cNvSpPr/>
          <p:nvPr/>
        </p:nvSpPr>
        <p:spPr>
          <a:xfrm>
            <a:off x="58723" y="-258737"/>
            <a:ext cx="12192000" cy="6929400"/>
          </a:xfrm>
          <a:prstGeom prst="rect">
            <a:avLst/>
          </a:prstGeom>
          <a:gradFill>
            <a:gsLst>
              <a:gs pos="0">
                <a:srgbClr val="FFFFFF">
                  <a:alpha val="69019"/>
                </a:srgbClr>
              </a:gs>
              <a:gs pos="55000">
                <a:srgbClr val="FFFFFF">
                  <a:alpha val="69019"/>
                </a:srgbClr>
              </a:gs>
              <a:gs pos="100000">
                <a:srgbClr val="FFFFFF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4dcf040a57_0_243"/>
          <p:cNvSpPr txBox="1"/>
          <p:nvPr/>
        </p:nvSpPr>
        <p:spPr>
          <a:xfrm>
            <a:off x="3001861" y="1772287"/>
            <a:ext cx="6188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NATIONAL ECONOMIC COUNCIL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REPUBLIC OF INDONESIA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4dcf040a57_0_243"/>
          <p:cNvSpPr txBox="1"/>
          <p:nvPr/>
        </p:nvSpPr>
        <p:spPr>
          <a:xfrm>
            <a:off x="3200942" y="3266009"/>
            <a:ext cx="5907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90571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4dcf040a57_0_243" descr="A white circle with a gold eagle and a st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8523" y="775777"/>
            <a:ext cx="932398" cy="93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"/>
          <p:cNvSpPr txBox="1">
            <a:spLocks noGrp="1"/>
          </p:cNvSpPr>
          <p:nvPr>
            <p:ph type="title"/>
          </p:nvPr>
        </p:nvSpPr>
        <p:spPr>
          <a:xfrm>
            <a:off x="2231571" y="3163236"/>
            <a:ext cx="7946572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id-ID" sz="2000" noProof="1"/>
              <a:t>PHK Early Warning Dashboard</a:t>
            </a:r>
            <a:br>
              <a:rPr lang="id-ID" sz="2000" noProof="1"/>
            </a:br>
            <a:r>
              <a:rPr lang="en-US" sz="2000" noProof="1"/>
              <a:t>Technical Notes</a:t>
            </a:r>
            <a:endParaRPr lang="id-ID" sz="2000" noProof="1"/>
          </a:p>
        </p:txBody>
      </p:sp>
      <p:sp>
        <p:nvSpPr>
          <p:cNvPr id="189" name="Google Shape;189;p1"/>
          <p:cNvSpPr txBox="1">
            <a:spLocks noGrp="1"/>
          </p:cNvSpPr>
          <p:nvPr>
            <p:ph type="subTitle" idx="1"/>
          </p:nvPr>
        </p:nvSpPr>
        <p:spPr>
          <a:xfrm>
            <a:off x="2560747" y="4279955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id-ID" sz="1400" noProof="1"/>
              <a:t> </a:t>
            </a:r>
            <a:r>
              <a:rPr lang="en-US" sz="1400" noProof="1"/>
              <a:t>Juli</a:t>
            </a:r>
            <a:r>
              <a:rPr lang="id-ID" sz="1400" noProof="1"/>
              <a:t> </a:t>
            </a:r>
            <a:r>
              <a:rPr lang="id-ID" sz="1400" noProof="1">
                <a:latin typeface="Arial"/>
                <a:ea typeface="Arial"/>
                <a:cs typeface="Arial"/>
                <a:sym typeface="Arial"/>
              </a:rPr>
              <a:t>2026</a:t>
            </a:r>
            <a:endParaRPr lang="id-ID" sz="14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7D2A-D7C3-ED7B-96CC-DD50E35C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Overview</a:t>
            </a:r>
            <a:r>
              <a:rPr lang="en-US" sz="1800"/>
              <a:t> </a:t>
            </a:r>
            <a:br>
              <a:rPr lang="en-US" sz="1800"/>
            </a:br>
            <a:r>
              <a:rPr lang="en-US" sz="1800"/>
              <a:t>PHK Early Warning Dashboard</a:t>
            </a:r>
            <a:endParaRPr lang="id-ID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F09D0-A52C-2F61-8046-036B6C37229E}"/>
              </a:ext>
            </a:extLst>
          </p:cNvPr>
          <p:cNvSpPr txBox="1"/>
          <p:nvPr/>
        </p:nvSpPr>
        <p:spPr>
          <a:xfrm>
            <a:off x="11439871" y="0"/>
            <a:ext cx="75212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Bertha</a:t>
            </a:r>
            <a:endParaRPr lang="id-ID" b="1"/>
          </a:p>
        </p:txBody>
      </p:sp>
    </p:spTree>
    <p:extLst>
      <p:ext uri="{BB962C8B-B14F-4D97-AF65-F5344CB8AC3E}">
        <p14:creationId xmlns:p14="http://schemas.microsoft.com/office/powerpoint/2010/main" val="52000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23A7-BEC2-7949-4D62-A52B9399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Executive Dashboard dan Peta Risiko PHK</a:t>
            </a:r>
            <a:br>
              <a:rPr lang="en-US" sz="1800"/>
            </a:br>
            <a:r>
              <a:rPr lang="id-ID" sz="1800" err="1"/>
              <a:t>Layoff</a:t>
            </a:r>
            <a:r>
              <a:rPr lang="id-ID" sz="1800"/>
              <a:t> </a:t>
            </a:r>
            <a:r>
              <a:rPr lang="id-ID" sz="1800" err="1"/>
              <a:t>Pressure</a:t>
            </a:r>
            <a:r>
              <a:rPr lang="id-ID" sz="1800"/>
              <a:t> Index</a:t>
            </a:r>
            <a:r>
              <a:rPr lang="en-US" sz="1800"/>
              <a:t> (LPI) </a:t>
            </a:r>
            <a:endParaRPr lang="id-ID" sz="180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57B69-EEDB-1EBB-EB0B-0FB5FF39EB0A}"/>
              </a:ext>
            </a:extLst>
          </p:cNvPr>
          <p:cNvSpPr txBox="1"/>
          <p:nvPr/>
        </p:nvSpPr>
        <p:spPr>
          <a:xfrm>
            <a:off x="678426" y="1386348"/>
            <a:ext cx="3924472" cy="95410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Tujuan </a:t>
            </a:r>
            <a:r>
              <a:rPr lang="en-US" err="1"/>
              <a:t>indeks</a:t>
            </a:r>
            <a:r>
              <a:rPr lang="en-US"/>
              <a:t>/</a:t>
            </a:r>
            <a:r>
              <a:rPr lang="en-US" err="1"/>
              <a:t>analisis</a:t>
            </a:r>
            <a:r>
              <a:rPr lang="en-US"/>
              <a:t>/</a:t>
            </a:r>
            <a:r>
              <a:rPr lang="en-US" err="1"/>
              <a:t>fitur</a:t>
            </a:r>
            <a:r>
              <a:rPr lang="en-US"/>
              <a:t> pada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Model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Variabel</a:t>
            </a:r>
            <a:r>
              <a:rPr lang="en-US"/>
              <a:t>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Catatan</a:t>
            </a:r>
            <a:r>
              <a:rPr lang="en-US"/>
              <a:t>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perbaikan</a:t>
            </a:r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A13F4-5805-2A4E-E0B7-0D521EA1B607}"/>
              </a:ext>
            </a:extLst>
          </p:cNvPr>
          <p:cNvSpPr txBox="1"/>
          <p:nvPr/>
        </p:nvSpPr>
        <p:spPr>
          <a:xfrm>
            <a:off x="10724931" y="0"/>
            <a:ext cx="146706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 err="1"/>
              <a:t>Muthia</a:t>
            </a:r>
            <a:r>
              <a:rPr lang="en-US" b="1"/>
              <a:t> &amp; Raisa</a:t>
            </a:r>
            <a:endParaRPr lang="id-ID" b="1"/>
          </a:p>
        </p:txBody>
      </p:sp>
    </p:spTree>
    <p:extLst>
      <p:ext uri="{BB962C8B-B14F-4D97-AF65-F5344CB8AC3E}">
        <p14:creationId xmlns:p14="http://schemas.microsoft.com/office/powerpoint/2010/main" val="49487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BB97-7508-FFBD-2F27-0192D51CC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Provincial Cluster &amp; Sectoral Risk</a:t>
            </a:r>
            <a:br>
              <a:rPr lang="en-US" sz="2400"/>
            </a:br>
            <a:r>
              <a:rPr lang="id-ID" sz="1800" err="1"/>
              <a:t>Layoff</a:t>
            </a:r>
            <a:r>
              <a:rPr lang="id-ID" sz="1800"/>
              <a:t> </a:t>
            </a:r>
            <a:r>
              <a:rPr lang="id-ID" sz="1800" err="1"/>
              <a:t>Pressure</a:t>
            </a:r>
            <a:r>
              <a:rPr lang="id-ID" sz="1800"/>
              <a:t> Index</a:t>
            </a:r>
            <a:r>
              <a:rPr lang="en-US" sz="1800"/>
              <a:t> (LPI) </a:t>
            </a:r>
            <a:r>
              <a:rPr lang="en-US" sz="1800" err="1"/>
              <a:t>berdasarkan</a:t>
            </a:r>
            <a:r>
              <a:rPr lang="en-US" sz="1800"/>
              <a:t> Cluster </a:t>
            </a:r>
            <a:r>
              <a:rPr lang="en-US" sz="1800" err="1"/>
              <a:t>Sektoral</a:t>
            </a:r>
            <a:r>
              <a:rPr lang="en-US" sz="1800"/>
              <a:t> dan </a:t>
            </a:r>
            <a:r>
              <a:rPr lang="en-US" sz="1800" err="1"/>
              <a:t>Provinsi</a:t>
            </a:r>
            <a:r>
              <a:rPr lang="en-US" sz="1800"/>
              <a:t>  </a:t>
            </a:r>
            <a:endParaRPr lang="id-ID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08934-8C3E-2A80-3D0C-2C0347A3FCA3}"/>
              </a:ext>
            </a:extLst>
          </p:cNvPr>
          <p:cNvSpPr txBox="1"/>
          <p:nvPr/>
        </p:nvSpPr>
        <p:spPr>
          <a:xfrm>
            <a:off x="11311631" y="0"/>
            <a:ext cx="88036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Timothy</a:t>
            </a:r>
            <a:endParaRPr lang="id-ID" b="1"/>
          </a:p>
        </p:txBody>
      </p:sp>
      <p:sp>
        <p:nvSpPr>
          <p:cNvPr id="100" name="Industrial Export Cluster label"/>
          <p:cNvSpPr txBox="1"/>
          <p:nvPr/>
        </p:nvSpPr>
        <p:spPr>
          <a:xfrm>
            <a:off x="1098795" y="1362490"/>
            <a:ext cx="3491536" cy="250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5250" tIns="0" rIns="76200" bIns="0" anchor="ctr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400" b="1" dirty="0">
                <a:solidFill>
                  <a:srgbClr val="D23B34"/>
                </a:solidFill>
                <a:latin typeface="Aptos"/>
              </a:rPr>
              <a:t>Industrial Export Cluster</a:t>
            </a:r>
            <a:endParaRPr lang="id-ID" sz="1400" dirty="0"/>
          </a:p>
        </p:txBody>
      </p:sp>
      <p:sp>
        <p:nvSpPr>
          <p:cNvPr id="101" name="Industrial Export Cluster body"/>
          <p:cNvSpPr txBox="1"/>
          <p:nvPr/>
        </p:nvSpPr>
        <p:spPr>
          <a:xfrm>
            <a:off x="558207" y="1656630"/>
            <a:ext cx="3491536" cy="2190751"/>
          </a:xfrm>
          <a:prstGeom prst="roundRect">
            <a:avLst>
              <a:gd name="adj" fmla="val 8000"/>
            </a:avLst>
          </a:prstGeom>
          <a:solidFill>
            <a:srgbClr val="D23B34"/>
          </a:solidFill>
          <a:ln>
            <a:noFill/>
          </a:ln>
        </p:spPr>
        <p:txBody>
          <a:bodyPr wrap="square" lIns="95250" tIns="76200" rIns="95250" bIns="76200" anchor="t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Wilayah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Jawa Barat, Banten, Jawa Tengah, Kepulauan Riau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 Fokus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manufaktur padat karya; pesanan global dan biaya kurs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Konsentrasi: Jabar ~60% manufaktur nasional; Jateng tekstil/alas kaki; Banten alas kaki; Batam elektronik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 Risiko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margin tipis dan kompetisi Vietnam/Bangladesh; Jabar mencatat 21,65% PHK nasional awal 2026</a:t>
            </a:r>
            <a:endParaRPr lang="id-ID" sz="1220" dirty="0"/>
          </a:p>
        </p:txBody>
      </p:sp>
      <p:sp>
        <p:nvSpPr>
          <p:cNvPr id="102" name="Resource-Based Cluster label"/>
          <p:cNvSpPr txBox="1"/>
          <p:nvPr/>
        </p:nvSpPr>
        <p:spPr>
          <a:xfrm>
            <a:off x="4940066" y="1375969"/>
            <a:ext cx="3491536" cy="250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5250" tIns="0" rIns="76200" bIns="0" anchor="ctr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400" b="1" dirty="0">
                <a:solidFill>
                  <a:srgbClr val="E3A008"/>
                </a:solidFill>
                <a:latin typeface="Aptos"/>
              </a:rPr>
              <a:t>Resource-Based Cluster</a:t>
            </a:r>
            <a:endParaRPr lang="id-ID" sz="1400" dirty="0"/>
          </a:p>
        </p:txBody>
      </p:sp>
      <p:sp>
        <p:nvSpPr>
          <p:cNvPr id="103" name="Resource-Based Cluster body"/>
          <p:cNvSpPr txBox="1"/>
          <p:nvPr/>
        </p:nvSpPr>
        <p:spPr>
          <a:xfrm>
            <a:off x="4272957" y="1656630"/>
            <a:ext cx="3491536" cy="2190751"/>
          </a:xfrm>
          <a:prstGeom prst="roundRect">
            <a:avLst>
              <a:gd name="adj" fmla="val 8000"/>
            </a:avLst>
          </a:prstGeom>
          <a:solidFill>
            <a:srgbClr val="E3A008"/>
          </a:solidFill>
          <a:ln>
            <a:noFill/>
          </a:ln>
        </p:spPr>
        <p:txBody>
          <a:bodyPr wrap="square" lIns="95250" tIns="76200" rIns="95250" bIns="76200" anchor="t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chemeClr val="bg1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chemeClr val="bg1"/>
                </a:solidFill>
                <a:latin typeface="Aptos"/>
              </a:rPr>
              <a:t>Wilayah</a:t>
            </a:r>
            <a:r>
              <a:rPr lang="id-ID" sz="1220" dirty="0">
                <a:solidFill>
                  <a:schemeClr val="bg1"/>
                </a:solidFill>
                <a:latin typeface="Aptos"/>
              </a:rPr>
              <a:t>: Riau, Kalimantan Timur, Kalimantan Selatan, Sulawesi Tengah</a:t>
            </a:r>
            <a:endParaRPr lang="id-ID" sz="122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chemeClr val="bg1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chemeClr val="bg1"/>
                </a:solidFill>
                <a:latin typeface="Aptos"/>
              </a:rPr>
              <a:t>Fokus</a:t>
            </a:r>
            <a:r>
              <a:rPr lang="id-ID" sz="1220" dirty="0">
                <a:solidFill>
                  <a:schemeClr val="bg1"/>
                </a:solidFill>
                <a:latin typeface="Aptos"/>
              </a:rPr>
              <a:t>: pekerjaan mengikuti siklus harga komoditas global</a:t>
            </a:r>
            <a:endParaRPr lang="id-ID" sz="122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chemeClr val="bg1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chemeClr val="bg1"/>
                </a:solidFill>
                <a:latin typeface="Aptos"/>
              </a:rPr>
              <a:t>Konsentrasi</a:t>
            </a:r>
            <a:r>
              <a:rPr lang="id-ID" sz="1220" dirty="0">
                <a:solidFill>
                  <a:schemeClr val="bg1"/>
                </a:solidFill>
                <a:latin typeface="Aptos"/>
              </a:rPr>
              <a:t>: Kaltim batu bara (36-45% PDRB); Sulteng nikel; Riau sawit dan migas</a:t>
            </a:r>
            <a:endParaRPr lang="id-ID" sz="122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chemeClr val="bg1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chemeClr val="bg1"/>
                </a:solidFill>
                <a:latin typeface="Aptos"/>
              </a:rPr>
              <a:t>Risiko</a:t>
            </a:r>
            <a:r>
              <a:rPr lang="id-ID" sz="1220" dirty="0">
                <a:solidFill>
                  <a:schemeClr val="bg1"/>
                </a:solidFill>
                <a:latin typeface="Aptos"/>
              </a:rPr>
              <a:t>: penurunan harga ekspor menekan output lokal dan pekerjaan energi/pertambangan</a:t>
            </a:r>
            <a:endParaRPr lang="id-ID" sz="1220" dirty="0">
              <a:solidFill>
                <a:schemeClr val="bg1"/>
              </a:solidFill>
            </a:endParaRPr>
          </a:p>
        </p:txBody>
      </p:sp>
      <p:sp>
        <p:nvSpPr>
          <p:cNvPr id="104" name="Services / Tourism Cluster label"/>
          <p:cNvSpPr txBox="1"/>
          <p:nvPr/>
        </p:nvSpPr>
        <p:spPr>
          <a:xfrm>
            <a:off x="8534046" y="1378997"/>
            <a:ext cx="3491536" cy="2503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5250" tIns="0" rIns="76200" bIns="0" anchor="ctr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400" b="1" dirty="0">
                <a:solidFill>
                  <a:srgbClr val="2563EB"/>
                </a:solidFill>
                <a:latin typeface="Aptos"/>
              </a:rPr>
              <a:t>Services / Tourism Cluster</a:t>
            </a:r>
            <a:endParaRPr lang="id-ID" sz="1400" dirty="0"/>
          </a:p>
        </p:txBody>
      </p:sp>
      <p:sp>
        <p:nvSpPr>
          <p:cNvPr id="105" name="Services / Tourism Cluster body"/>
          <p:cNvSpPr txBox="1"/>
          <p:nvPr/>
        </p:nvSpPr>
        <p:spPr>
          <a:xfrm>
            <a:off x="7987707" y="1656630"/>
            <a:ext cx="3491536" cy="219075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txBody>
          <a:bodyPr wrap="square" lIns="95250" tIns="76200" rIns="95250" bIns="76200" anchor="t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Wilayah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DKI Jakarta, Bali, DI Yogyakarta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Fokus: konsumsi domestik, mobilitas, dan arus wisatawan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Konsentrasi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pariwisata serta akomodasi-mamin ~20% PDRB Bali (2023); Yogyakarta wisata; Jakarta pusat jasa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Risiko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daya beli dan kunjungan melemah; ekonomi Bali turun 9,3% pada 2020</a:t>
            </a:r>
            <a:endParaRPr lang="id-ID" sz="1220" dirty="0"/>
          </a:p>
        </p:txBody>
      </p:sp>
      <p:sp>
        <p:nvSpPr>
          <p:cNvPr id="106" name="Domestic Demand Cluster label"/>
          <p:cNvSpPr txBox="1"/>
          <p:nvPr/>
        </p:nvSpPr>
        <p:spPr>
          <a:xfrm>
            <a:off x="1880198" y="4212648"/>
            <a:ext cx="2847077" cy="141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5250" tIns="0" rIns="76200" bIns="0" anchor="ctr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400" b="1" dirty="0">
                <a:solidFill>
                  <a:srgbClr val="1F9D57"/>
                </a:solidFill>
                <a:latin typeface="Aptos"/>
              </a:rPr>
              <a:t>Domestic Demand Cluster</a:t>
            </a:r>
            <a:endParaRPr lang="id-ID" sz="1400" dirty="0"/>
          </a:p>
        </p:txBody>
      </p:sp>
      <p:sp>
        <p:nvSpPr>
          <p:cNvPr id="107" name="Domestic Demand Cluster body"/>
          <p:cNvSpPr txBox="1"/>
          <p:nvPr/>
        </p:nvSpPr>
        <p:spPr>
          <a:xfrm>
            <a:off x="620742" y="4442465"/>
            <a:ext cx="5238750" cy="1609725"/>
          </a:xfrm>
          <a:prstGeom prst="roundRect">
            <a:avLst>
              <a:gd name="adj" fmla="val 8000"/>
            </a:avLst>
          </a:prstGeom>
          <a:solidFill>
            <a:srgbClr val="1F9D57"/>
          </a:solidFill>
          <a:ln>
            <a:noFill/>
          </a:ln>
        </p:spPr>
        <p:txBody>
          <a:bodyPr wrap="square" lIns="95250" tIns="76200" rIns="95250" bIns="76200" anchor="t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Wilayah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Jawa Timur, Sumatera Utara, Sulawesi Selatan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Fokus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hub regional terdiversifikasi; sensitif pada konsumsi rumah tangga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Karakteristik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Surabaya, Medan, dan Makassar menjadi gerbang logistik; pertumbuhan kelas menengah ~7,5%; Jatim ~15% PDB nasional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Risiko: inflasi dan konsumsi melemah; klaster paling dinamis karena bauran manufaktur, perkebunan, dan pertanian</a:t>
            </a:r>
            <a:endParaRPr lang="id-ID" sz="1220" dirty="0"/>
          </a:p>
        </p:txBody>
      </p:sp>
      <p:sp>
        <p:nvSpPr>
          <p:cNvPr id="108" name="Low Formalization Cluster label"/>
          <p:cNvSpPr txBox="1"/>
          <p:nvPr/>
        </p:nvSpPr>
        <p:spPr>
          <a:xfrm>
            <a:off x="7666727" y="4169177"/>
            <a:ext cx="3053032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5250" tIns="0" rIns="76200" bIns="0" anchor="ctr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400" b="1" dirty="0">
                <a:solidFill>
                  <a:srgbClr val="64748B"/>
                </a:solidFill>
                <a:latin typeface="Aptos"/>
              </a:rPr>
              <a:t>Low Formalization Cluster</a:t>
            </a:r>
            <a:endParaRPr lang="id-ID" sz="1400" dirty="0"/>
          </a:p>
        </p:txBody>
      </p:sp>
      <p:sp>
        <p:nvSpPr>
          <p:cNvPr id="109" name="Low Formalization Cluster body"/>
          <p:cNvSpPr txBox="1"/>
          <p:nvPr/>
        </p:nvSpPr>
        <p:spPr>
          <a:xfrm>
            <a:off x="6240492" y="4442465"/>
            <a:ext cx="5238750" cy="1609725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txBody>
          <a:bodyPr wrap="square" lIns="95250" tIns="76200" rIns="95250" bIns="76200" anchor="t"/>
          <a:lstStyle/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Wilayah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dominan di Nusa Tenggara, Maluku, dan Papua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Fokus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penyesuaian krisis terjadi di luar catatan PHK formal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Informalitas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nasional 59%; Papua 84%, Sulbar 77%, NTB 75%; terendah di Jawa-Bali</a:t>
            </a:r>
            <a:endParaRPr lang="id-ID" sz="1220" dirty="0"/>
          </a:p>
          <a:p>
            <a:pPr marL="0" indent="0">
              <a:lnSpc>
                <a:spcPct val="100000"/>
              </a:lnSpc>
              <a:spcAft>
                <a:spcPts val="100"/>
              </a:spcAft>
            </a:pPr>
            <a:r>
              <a:rPr lang="id-ID" sz="1220" dirty="0">
                <a:solidFill>
                  <a:srgbClr val="FFFFFF"/>
                </a:solidFill>
                <a:latin typeface="Aptos"/>
              </a:rPr>
              <a:t>• </a:t>
            </a:r>
            <a:r>
              <a:rPr lang="id-ID" sz="1220" b="1" dirty="0">
                <a:solidFill>
                  <a:srgbClr val="FFFFFF"/>
                </a:solidFill>
                <a:latin typeface="Aptos"/>
              </a:rPr>
              <a:t>Risiko</a:t>
            </a:r>
            <a:r>
              <a:rPr lang="id-ID" sz="1220" dirty="0">
                <a:solidFill>
                  <a:srgbClr val="FFFFFF"/>
                </a:solidFill>
                <a:latin typeface="Aptos"/>
              </a:rPr>
              <a:t>: terlihat sebagai penurunan jam kerja, hilangnya pendapatan informal, dan kenaikan kemiskinan-terutama NTT dan Papua</a:t>
            </a:r>
            <a:endParaRPr lang="id-ID" sz="122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3B042-B358-07CF-9065-70EA705D6E72}"/>
              </a:ext>
            </a:extLst>
          </p:cNvPr>
          <p:cNvSpPr txBox="1"/>
          <p:nvPr/>
        </p:nvSpPr>
        <p:spPr>
          <a:xfrm>
            <a:off x="7206292" y="6378715"/>
            <a:ext cx="4819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BPS, API, ASEAN Briefing, World Bank Policy Research, OECD</a:t>
            </a:r>
            <a:endParaRPr lang="en-ID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88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C04E-E356-D6C4-0C09-9BA645D7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7915-2A9C-7035-58F4-FA871608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Macro Sensitivity</a:t>
            </a:r>
            <a:br>
              <a:rPr lang="en-US" sz="2400"/>
            </a:br>
            <a:r>
              <a:rPr lang="id-ID" sz="1800" err="1"/>
              <a:t>Leading</a:t>
            </a:r>
            <a:r>
              <a:rPr lang="id-ID" sz="1800"/>
              <a:t> </a:t>
            </a:r>
            <a:r>
              <a:rPr lang="id-ID" sz="1800" err="1"/>
              <a:t>Indicator</a:t>
            </a:r>
            <a:r>
              <a:rPr lang="id-ID" sz="1800"/>
              <a:t> </a:t>
            </a:r>
            <a:r>
              <a:rPr lang="id-ID" sz="1800" err="1"/>
              <a:t>Analysis</a:t>
            </a:r>
            <a:r>
              <a:rPr lang="en-US" sz="1800"/>
              <a:t>  </a:t>
            </a:r>
            <a:endParaRPr lang="id-ID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C456B-5F03-F9F8-A8DA-B4F7E5EE36C8}"/>
              </a:ext>
            </a:extLst>
          </p:cNvPr>
          <p:cNvSpPr txBox="1"/>
          <p:nvPr/>
        </p:nvSpPr>
        <p:spPr>
          <a:xfrm>
            <a:off x="678426" y="1386348"/>
            <a:ext cx="3924472" cy="95410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Tujuan </a:t>
            </a:r>
            <a:r>
              <a:rPr lang="en-US" err="1"/>
              <a:t>indeks</a:t>
            </a:r>
            <a:r>
              <a:rPr lang="en-US"/>
              <a:t>/</a:t>
            </a:r>
            <a:r>
              <a:rPr lang="en-US" err="1"/>
              <a:t>analisis</a:t>
            </a:r>
            <a:r>
              <a:rPr lang="en-US"/>
              <a:t>/</a:t>
            </a:r>
            <a:r>
              <a:rPr lang="en-US" err="1"/>
              <a:t>fitur</a:t>
            </a:r>
            <a:r>
              <a:rPr lang="en-US"/>
              <a:t> pada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Model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Variabel</a:t>
            </a:r>
            <a:r>
              <a:rPr lang="en-US"/>
              <a:t>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Catatan</a:t>
            </a:r>
            <a:r>
              <a:rPr lang="en-US"/>
              <a:t>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perbaikan</a:t>
            </a:r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18EB1-2616-1F49-288C-73100683DAC1}"/>
              </a:ext>
            </a:extLst>
          </p:cNvPr>
          <p:cNvSpPr txBox="1"/>
          <p:nvPr/>
        </p:nvSpPr>
        <p:spPr>
          <a:xfrm>
            <a:off x="11162551" y="0"/>
            <a:ext cx="102944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Mas </a:t>
            </a:r>
            <a:r>
              <a:rPr lang="en-US" b="1" err="1"/>
              <a:t>Alfan</a:t>
            </a:r>
            <a:endParaRPr lang="id-ID" b="1"/>
          </a:p>
        </p:txBody>
      </p:sp>
    </p:spTree>
    <p:extLst>
      <p:ext uri="{BB962C8B-B14F-4D97-AF65-F5344CB8AC3E}">
        <p14:creationId xmlns:p14="http://schemas.microsoft.com/office/powerpoint/2010/main" val="420492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27167-A980-E529-4E7A-9D257EEF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4A75-B0DD-01BC-0A6C-25507DBE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Macro Sensitivity</a:t>
            </a:r>
            <a:br>
              <a:rPr lang="en-US" sz="2400"/>
            </a:br>
            <a:r>
              <a:rPr lang="id-ID" sz="1800"/>
              <a:t>Proyeksi PHK Provinsi (Model </a:t>
            </a:r>
            <a:r>
              <a:rPr lang="id-ID" sz="1800" err="1"/>
              <a:t>Fractional</a:t>
            </a:r>
            <a:r>
              <a:rPr lang="id-ID" sz="1800"/>
              <a:t> </a:t>
            </a:r>
            <a:r>
              <a:rPr lang="id-ID" sz="1800" err="1"/>
              <a:t>Logit</a:t>
            </a:r>
            <a:r>
              <a:rPr lang="id-ID" sz="1800"/>
              <a:t>) </a:t>
            </a:r>
            <a:r>
              <a:rPr lang="en-US" sz="1800"/>
              <a:t>  </a:t>
            </a:r>
            <a:endParaRPr lang="id-ID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548F9-1563-02B2-229B-81C5B99F42C6}"/>
              </a:ext>
            </a:extLst>
          </p:cNvPr>
          <p:cNvSpPr txBox="1"/>
          <p:nvPr/>
        </p:nvSpPr>
        <p:spPr>
          <a:xfrm>
            <a:off x="678426" y="1386348"/>
            <a:ext cx="3924472" cy="95410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Tujuan </a:t>
            </a:r>
            <a:r>
              <a:rPr lang="en-US" err="1"/>
              <a:t>indeks</a:t>
            </a:r>
            <a:r>
              <a:rPr lang="en-US"/>
              <a:t>/</a:t>
            </a:r>
            <a:r>
              <a:rPr lang="en-US" err="1"/>
              <a:t>analisis</a:t>
            </a:r>
            <a:r>
              <a:rPr lang="en-US"/>
              <a:t>/</a:t>
            </a:r>
            <a:r>
              <a:rPr lang="en-US" err="1"/>
              <a:t>fitur</a:t>
            </a:r>
            <a:r>
              <a:rPr lang="en-US"/>
              <a:t> pada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Model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Variabel</a:t>
            </a:r>
            <a:r>
              <a:rPr lang="en-US"/>
              <a:t>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Catatan</a:t>
            </a:r>
            <a:r>
              <a:rPr lang="en-US"/>
              <a:t>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perbaikan</a:t>
            </a:r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9C9BE-303E-1CD0-B66C-B0E24FD758EC}"/>
              </a:ext>
            </a:extLst>
          </p:cNvPr>
          <p:cNvSpPr txBox="1"/>
          <p:nvPr/>
        </p:nvSpPr>
        <p:spPr>
          <a:xfrm>
            <a:off x="11162551" y="0"/>
            <a:ext cx="102944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Mas </a:t>
            </a:r>
            <a:r>
              <a:rPr lang="en-US" b="1" err="1"/>
              <a:t>Alfan</a:t>
            </a:r>
            <a:endParaRPr lang="id-ID" b="1"/>
          </a:p>
        </p:txBody>
      </p:sp>
    </p:spTree>
    <p:extLst>
      <p:ext uri="{BB962C8B-B14F-4D97-AF65-F5344CB8AC3E}">
        <p14:creationId xmlns:p14="http://schemas.microsoft.com/office/powerpoint/2010/main" val="372309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F95D-095E-B158-8FA3-438AA237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603B-0CD2-A6EF-22E8-97EB65D4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Macro Sensitivity</a:t>
            </a:r>
            <a:br>
              <a:rPr lang="en-US" sz="2400"/>
            </a:br>
            <a:r>
              <a:rPr lang="id-ID" sz="1800" err="1"/>
              <a:t>Labor</a:t>
            </a:r>
            <a:r>
              <a:rPr lang="id-ID" sz="1800"/>
              <a:t> </a:t>
            </a:r>
            <a:r>
              <a:rPr lang="id-ID" sz="1800" err="1"/>
              <a:t>Leading</a:t>
            </a:r>
            <a:r>
              <a:rPr lang="id-ID" sz="1800"/>
              <a:t> </a:t>
            </a:r>
            <a:r>
              <a:rPr lang="id-ID" sz="1800" err="1"/>
              <a:t>Indicator</a:t>
            </a:r>
            <a:r>
              <a:rPr lang="id-ID" sz="1800"/>
              <a:t> (LLI)  </a:t>
            </a:r>
            <a:r>
              <a:rPr lang="en-US" sz="1800"/>
              <a:t>  </a:t>
            </a:r>
            <a:endParaRPr lang="id-ID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B9263-5699-A598-9237-5516183B8E34}"/>
              </a:ext>
            </a:extLst>
          </p:cNvPr>
          <p:cNvSpPr txBox="1"/>
          <p:nvPr/>
        </p:nvSpPr>
        <p:spPr>
          <a:xfrm>
            <a:off x="678426" y="1386348"/>
            <a:ext cx="3924472" cy="95410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Tujuan </a:t>
            </a:r>
            <a:r>
              <a:rPr lang="en-US" err="1"/>
              <a:t>indeks</a:t>
            </a:r>
            <a:r>
              <a:rPr lang="en-US"/>
              <a:t>/</a:t>
            </a:r>
            <a:r>
              <a:rPr lang="en-US" err="1"/>
              <a:t>analisis</a:t>
            </a:r>
            <a:r>
              <a:rPr lang="en-US"/>
              <a:t>/</a:t>
            </a:r>
            <a:r>
              <a:rPr lang="en-US" err="1"/>
              <a:t>fitur</a:t>
            </a:r>
            <a:r>
              <a:rPr lang="en-US"/>
              <a:t> pada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Model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Variabel</a:t>
            </a:r>
            <a:r>
              <a:rPr lang="en-US"/>
              <a:t> yang </a:t>
            </a:r>
            <a:r>
              <a:rPr lang="en-US" err="1"/>
              <a:t>digunakan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/>
              <a:t>Catatan</a:t>
            </a:r>
            <a:r>
              <a:rPr lang="en-US"/>
              <a:t>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perbaikan</a:t>
            </a:r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00FB7-5275-57EF-7A8F-6CDE8A95D5AE}"/>
              </a:ext>
            </a:extLst>
          </p:cNvPr>
          <p:cNvSpPr txBox="1"/>
          <p:nvPr/>
        </p:nvSpPr>
        <p:spPr>
          <a:xfrm>
            <a:off x="11162551" y="0"/>
            <a:ext cx="102944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Mas </a:t>
            </a:r>
            <a:r>
              <a:rPr lang="en-US" b="1" err="1"/>
              <a:t>Alfan</a:t>
            </a:r>
            <a:endParaRPr lang="id-ID" b="1"/>
          </a:p>
        </p:txBody>
      </p:sp>
    </p:spTree>
    <p:extLst>
      <p:ext uri="{BB962C8B-B14F-4D97-AF65-F5344CB8AC3E}">
        <p14:creationId xmlns:p14="http://schemas.microsoft.com/office/powerpoint/2010/main" val="368962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00EF-F282-33AD-426E-6AC7B2E6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chemeClr val="accent6"/>
                </a:solidFill>
              </a:rPr>
              <a:t>Monitor </a:t>
            </a:r>
            <a:r>
              <a:rPr lang="en-US" sz="1400" err="1">
                <a:solidFill>
                  <a:schemeClr val="accent6"/>
                </a:solidFill>
              </a:rPr>
              <a:t>Tekanan</a:t>
            </a:r>
            <a:r>
              <a:rPr lang="en-US" sz="1400">
                <a:solidFill>
                  <a:schemeClr val="accent6"/>
                </a:solidFill>
              </a:rPr>
              <a:t> Sektor-</a:t>
            </a:r>
            <a:r>
              <a:rPr lang="en-US" sz="1400" err="1">
                <a:solidFill>
                  <a:schemeClr val="accent6"/>
                </a:solidFill>
              </a:rPr>
              <a:t>Provinsi</a:t>
            </a:r>
            <a:br>
              <a:rPr lang="en-US" sz="2400"/>
            </a:br>
            <a:r>
              <a:rPr lang="id-ID" sz="1800"/>
              <a:t>Model C</a:t>
            </a:r>
            <a:r>
              <a:rPr lang="en-US" sz="1800" err="1"/>
              <a:t>omputable</a:t>
            </a:r>
            <a:r>
              <a:rPr lang="en-US" sz="1800"/>
              <a:t> </a:t>
            </a:r>
            <a:r>
              <a:rPr lang="id-ID" sz="1800"/>
              <a:t>G</a:t>
            </a:r>
            <a:r>
              <a:rPr lang="en-US" sz="1800" err="1"/>
              <a:t>eneralized</a:t>
            </a:r>
            <a:r>
              <a:rPr lang="en-US" sz="1800"/>
              <a:t> </a:t>
            </a:r>
            <a:r>
              <a:rPr lang="id-ID" sz="1800"/>
              <a:t>E</a:t>
            </a:r>
            <a:r>
              <a:rPr lang="en-US" sz="1800" err="1"/>
              <a:t>quilibrium</a:t>
            </a:r>
            <a:r>
              <a:rPr lang="en-US" sz="1800"/>
              <a:t> (CGE)</a:t>
            </a:r>
            <a:r>
              <a:rPr lang="id-ID" sz="1800"/>
              <a:t> </a:t>
            </a:r>
            <a:r>
              <a:rPr lang="id-ID" sz="1800" err="1"/>
              <a:t>IndoT</a:t>
            </a:r>
            <a:r>
              <a:rPr lang="en-US" sz="1800"/>
              <a:t>ERM</a:t>
            </a:r>
            <a:endParaRPr lang="id-ID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54938-670C-3D69-8830-42EB719CB082}"/>
              </a:ext>
            </a:extLst>
          </p:cNvPr>
          <p:cNvSpPr txBox="1"/>
          <p:nvPr/>
        </p:nvSpPr>
        <p:spPr>
          <a:xfrm>
            <a:off x="10514938" y="0"/>
            <a:ext cx="1677062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b="1"/>
              <a:t>Timothy &amp; Bertha</a:t>
            </a:r>
            <a:endParaRPr lang="id-ID" b="1"/>
          </a:p>
        </p:txBody>
      </p:sp>
      <p:sp>
        <p:nvSpPr>
          <p:cNvPr id="100" name="Peran model IndoTERM"/>
          <p:cNvSpPr txBox="1"/>
          <p:nvPr/>
        </p:nvSpPr>
        <p:spPr>
          <a:xfrm>
            <a:off x="857250" y="1352550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d-ID" sz="1250" b="1">
                <a:solidFill>
                  <a:srgbClr val="C7771D"/>
                </a:solidFill>
                <a:latin typeface="Aptos"/>
              </a:rPr>
              <a:t>Peran model: </a:t>
            </a:r>
            <a:r>
              <a:rPr lang="id-ID" sz="1250">
                <a:solidFill>
                  <a:srgbClr val="171717"/>
                </a:solidFill>
                <a:latin typeface="Aptos"/>
              </a:rPr>
              <a:t>IndoTERM menyediakan respons struktural tenaga kerja; dasbor menerapkannya pada guncangan terkini atau skenario pengguna.</a:t>
            </a:r>
            <a:endParaRPr lang="id-ID" sz="1250"/>
          </a:p>
        </p:txBody>
      </p:sp>
      <p:sp>
        <p:nvSpPr>
          <p:cNvPr id="101" name="Tahap 1 header"/>
          <p:cNvSpPr txBox="1"/>
          <p:nvPr/>
        </p:nvSpPr>
        <p:spPr>
          <a:xfrm>
            <a:off x="1381125" y="1809750"/>
            <a:ext cx="2714625" cy="295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4E3C"/>
            </a:solidFill>
          </a:ln>
        </p:spPr>
        <p:txBody>
          <a:bodyPr wrap="square" lIns="28575" tIns="0" rIns="28575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080" b="1">
                <a:solidFill>
                  <a:srgbClr val="3F4650"/>
                </a:solidFill>
                <a:latin typeface="Aptos"/>
              </a:rPr>
              <a:t>1. Menyelesaikan ekonomi daerah</a:t>
            </a:r>
            <a:endParaRPr lang="id-ID" sz="1080"/>
          </a:p>
        </p:txBody>
      </p:sp>
      <p:sp>
        <p:nvSpPr>
          <p:cNvPr id="103" name="Tahap 1 judul"/>
          <p:cNvSpPr txBox="1"/>
          <p:nvPr/>
        </p:nvSpPr>
        <p:spPr>
          <a:xfrm>
            <a:off x="1381125" y="2828925"/>
            <a:ext cx="27146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180" b="1">
                <a:solidFill>
                  <a:srgbClr val="8B4E3C"/>
                </a:solidFill>
                <a:latin typeface="Aptos"/>
              </a:rPr>
              <a:t>Model CGE regional dari daerah ke nasional</a:t>
            </a:r>
            <a:endParaRPr lang="id-ID" sz="1180"/>
          </a:p>
        </p:txBody>
      </p:sp>
      <p:sp>
        <p:nvSpPr>
          <p:cNvPr id="104" name="Tahap 1 nomor"/>
          <p:cNvSpPr txBox="1"/>
          <p:nvPr/>
        </p:nvSpPr>
        <p:spPr>
          <a:xfrm>
            <a:off x="1266825" y="3286125"/>
            <a:ext cx="457200" cy="457200"/>
          </a:xfrm>
          <a:prstGeom prst="roundRect">
            <a:avLst>
              <a:gd name="adj" fmla="val 8000"/>
            </a:avLst>
          </a:prstGeom>
          <a:solidFill>
            <a:srgbClr val="8B4E3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700" b="1">
                <a:solidFill>
                  <a:srgbClr val="FFFFFF"/>
                </a:solidFill>
                <a:latin typeface="Aptos"/>
              </a:rPr>
              <a:t>01</a:t>
            </a:r>
            <a:endParaRPr lang="id-ID" sz="1700"/>
          </a:p>
        </p:txBody>
      </p:sp>
      <p:sp>
        <p:nvSpPr>
          <p:cNvPr id="105" name="Tahap 1 bullets"/>
          <p:cNvSpPr txBox="1"/>
          <p:nvPr/>
        </p:nvSpPr>
        <p:spPr>
          <a:xfrm>
            <a:off x="1838325" y="3209925"/>
            <a:ext cx="2428875" cy="16573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Setiap komoditas memiliki keseimbangan pasar tersendiri di setiap provinsi; harga dan guncangan dapat berbeda.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Produsen meminimalkan biaya melalui CES bertingkat atas tenaga kerja, modal, tanah, dan input antara.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Empat kelompok tenaga kerja membentuk tenaga kerja komposit: pertanian, produksi, administrasi, dan manajerial.</a:t>
            </a:r>
            <a:endParaRPr lang="id-ID" sz="920"/>
          </a:p>
        </p:txBody>
      </p:sp>
      <p:sp>
        <p:nvSpPr>
          <p:cNvPr id="106" name="Tahap 2 header"/>
          <p:cNvSpPr txBox="1"/>
          <p:nvPr/>
        </p:nvSpPr>
        <p:spPr>
          <a:xfrm>
            <a:off x="4714875" y="1809750"/>
            <a:ext cx="2714625" cy="295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7771D"/>
            </a:solidFill>
          </a:ln>
        </p:spPr>
        <p:txBody>
          <a:bodyPr wrap="square" lIns="28575" tIns="0" rIns="28575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080" b="1">
                <a:solidFill>
                  <a:srgbClr val="3F4650"/>
                </a:solidFill>
                <a:latin typeface="Aptos"/>
              </a:rPr>
              <a:t>2. Menelusuri dampak ekonomi</a:t>
            </a:r>
            <a:endParaRPr lang="id-ID" sz="1080"/>
          </a:p>
        </p:txBody>
      </p:sp>
      <p:sp>
        <p:nvSpPr>
          <p:cNvPr id="108" name="Tahap 2 judul"/>
          <p:cNvSpPr txBox="1"/>
          <p:nvPr/>
        </p:nvSpPr>
        <p:spPr>
          <a:xfrm>
            <a:off x="4714875" y="2828925"/>
            <a:ext cx="27146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180" b="1">
                <a:solidFill>
                  <a:srgbClr val="C7771D"/>
                </a:solidFill>
                <a:latin typeface="Aptos"/>
              </a:rPr>
              <a:t>Perilaku dan hubungan antarpasar</a:t>
            </a:r>
            <a:endParaRPr lang="id-ID" sz="1180"/>
          </a:p>
        </p:txBody>
      </p:sp>
      <p:sp>
        <p:nvSpPr>
          <p:cNvPr id="109" name="Tahap 2 nomor"/>
          <p:cNvSpPr txBox="1"/>
          <p:nvPr/>
        </p:nvSpPr>
        <p:spPr>
          <a:xfrm>
            <a:off x="4600575" y="3286125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7771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700" b="1">
                <a:solidFill>
                  <a:srgbClr val="FFFFFF"/>
                </a:solidFill>
                <a:latin typeface="Aptos"/>
              </a:rPr>
              <a:t>02</a:t>
            </a:r>
            <a:endParaRPr lang="id-ID" sz="1700"/>
          </a:p>
        </p:txBody>
      </p:sp>
      <p:sp>
        <p:nvSpPr>
          <p:cNvPr id="110" name="Tahap 2 bullets"/>
          <p:cNvSpPr txBox="1"/>
          <p:nvPr/>
        </p:nvSpPr>
        <p:spPr>
          <a:xfrm>
            <a:off x="5172075" y="3209925"/>
            <a:ext cx="2428875" cy="16573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Industri, rumah tangga, investor, dan pemerintah memilih daerah asal, campuran domestik/impor, dan komoditas.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Permintaan rumah tangga menggunakan LES; ekspor merespons permintaan luar negeri.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Pajak, tarif, dan rantai pasok antarwilayah menyalurkan guncangan antarsektor dan provinsi.</a:t>
            </a:r>
            <a:endParaRPr lang="id-ID" sz="920"/>
          </a:p>
        </p:txBody>
      </p:sp>
      <p:sp>
        <p:nvSpPr>
          <p:cNvPr id="111" name="Tahap 3 header"/>
          <p:cNvSpPr txBox="1"/>
          <p:nvPr/>
        </p:nvSpPr>
        <p:spPr>
          <a:xfrm>
            <a:off x="8048625" y="1809750"/>
            <a:ext cx="2714625" cy="295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3A008"/>
            </a:solidFill>
          </a:ln>
        </p:spPr>
        <p:txBody>
          <a:bodyPr wrap="square" lIns="28575" tIns="0" rIns="28575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080" b="1">
                <a:solidFill>
                  <a:srgbClr val="3F4650"/>
                </a:solidFill>
                <a:latin typeface="Aptos"/>
              </a:rPr>
              <a:t>3. Menghasilkan estimasi dasbor</a:t>
            </a:r>
            <a:endParaRPr lang="id-ID" sz="1080"/>
          </a:p>
        </p:txBody>
      </p:sp>
      <p:sp>
        <p:nvSpPr>
          <p:cNvPr id="113" name="Tahap 3 judul"/>
          <p:cNvSpPr txBox="1"/>
          <p:nvPr/>
        </p:nvSpPr>
        <p:spPr>
          <a:xfrm>
            <a:off x="8048625" y="2828925"/>
            <a:ext cx="27146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180" b="1">
                <a:solidFill>
                  <a:srgbClr val="E3A008"/>
                </a:solidFill>
                <a:latin typeface="Aptos"/>
              </a:rPr>
              <a:t>Kalibrasi model, aplikasi waktu nyata</a:t>
            </a:r>
            <a:endParaRPr lang="id-ID" sz="1180"/>
          </a:p>
        </p:txBody>
      </p:sp>
      <p:sp>
        <p:nvSpPr>
          <p:cNvPr id="114" name="Tahap 3 nomor"/>
          <p:cNvSpPr txBox="1"/>
          <p:nvPr/>
        </p:nvSpPr>
        <p:spPr>
          <a:xfrm>
            <a:off x="7934325" y="3286125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3A00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700" b="1">
                <a:solidFill>
                  <a:srgbClr val="FFFFFF"/>
                </a:solidFill>
                <a:latin typeface="Aptos"/>
              </a:rPr>
              <a:t>03</a:t>
            </a:r>
            <a:endParaRPr lang="id-ID" sz="1700"/>
          </a:p>
        </p:txBody>
      </p:sp>
      <p:sp>
        <p:nvSpPr>
          <p:cNvPr id="115" name="Tahap 3 bullets"/>
          <p:cNvSpPr txBox="1"/>
          <p:nvPr/>
        </p:nvSpPr>
        <p:spPr>
          <a:xfrm>
            <a:off x="8505825" y="3209925"/>
            <a:ext cx="2428875" cy="1657350"/>
          </a:xfrm>
          <a:prstGeom prst="rect">
            <a:avLst/>
          </a:prstGeom>
          <a:noFill/>
          <a:ln>
            <a:noFill/>
          </a:ln>
        </p:spPr>
        <p:txBody>
          <a:bodyPr wrap="square" lIns="19050" tIns="19050" rIns="19050" bIns="19050" anchor="t"/>
          <a:lstStyle/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IndoTERM dijalankan di luar dasbor dengan guncangan terpisah 1% untuk harga komoditas, permintaan mitra dagang, dan domestik.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Elastisitas tenaga kerja disimpan untuk setiap sel 52 sektor x 34 provinsi.</a:t>
            </a:r>
            <a:endParaRPr lang="id-ID" sz="920"/>
          </a:p>
          <a:p>
            <a:pPr algn="l">
              <a:lnSpc>
                <a:spcPct val="103000"/>
              </a:lnSpc>
              <a:spcAft>
                <a:spcPts val="130"/>
              </a:spcAft>
            </a:pPr>
            <a:r>
              <a:rPr lang="id-ID" sz="920">
                <a:solidFill>
                  <a:srgbClr val="3F4650"/>
                </a:solidFill>
                <a:latin typeface="Aptos"/>
              </a:rPr>
              <a:t>• Guncangan terkini x elastisitas; jumlahkan tema; kalikan tenaga kerja lo.csv untuk estimasi pekerja terdampak.</a:t>
            </a:r>
            <a:endParaRPr lang="id-ID" sz="920"/>
          </a:p>
        </p:txBody>
      </p:sp>
      <p:sp>
        <p:nvSpPr>
          <p:cNvPr id="116" name="Inti icon"/>
          <p:cNvSpPr txBox="1"/>
          <p:nvPr/>
        </p:nvSpPr>
        <p:spPr>
          <a:xfrm>
            <a:off x="1095375" y="5191125"/>
            <a:ext cx="781050" cy="628650"/>
          </a:xfrm>
          <a:prstGeom prst="roundRect">
            <a:avLst>
              <a:gd name="adj" fmla="val 8000"/>
            </a:avLst>
          </a:prstGeom>
          <a:solidFill>
            <a:srgbClr val="8B4E3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3000"/>
              </a:lnSpc>
              <a:spcAft>
                <a:spcPts val="120"/>
              </a:spcAft>
            </a:pPr>
            <a:r>
              <a:rPr lang="id-ID" sz="1450" b="1">
                <a:solidFill>
                  <a:srgbClr val="FFFFFF"/>
                </a:solidFill>
                <a:latin typeface="Aptos"/>
              </a:rPr>
              <a:t>INTI</a:t>
            </a:r>
            <a:endParaRPr lang="id-ID" sz="1450"/>
          </a:p>
        </p:txBody>
      </p:sp>
      <p:sp>
        <p:nvSpPr>
          <p:cNvPr id="117" name="Inti manfaat"/>
          <p:cNvSpPr txBox="1"/>
          <p:nvPr/>
        </p:nvSpPr>
        <p:spPr>
          <a:xfrm>
            <a:off x="2047875" y="5143500"/>
            <a:ext cx="8810625" cy="7239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</p:spPr>
        <p:txBody>
          <a:bodyPr wrap="square" lIns="114300" tIns="66675" rIns="114300" bIns="66675" anchor="ctr"/>
          <a:lstStyle/>
          <a:p>
            <a:pPr algn="l"/>
            <a:r>
              <a:rPr lang="id-ID" sz="1130" b="1">
                <a:solidFill>
                  <a:srgbClr val="0B1F3A"/>
                </a:solidFill>
                <a:latin typeface="Aptos"/>
              </a:rPr>
              <a:t>Inti manfaat: </a:t>
            </a:r>
            <a:r>
              <a:rPr lang="id-ID" sz="1130">
                <a:solidFill>
                  <a:srgbClr val="171717"/>
                </a:solidFill>
                <a:latin typeface="Aptos"/>
              </a:rPr>
              <a:t>guncangan nasional yang sama dapat menghasilkan dampak tenaga kerja berbeda menurut sektor dan provinsi.</a:t>
            </a:r>
            <a:endParaRPr lang="id-ID" sz="1130"/>
          </a:p>
          <a:p>
            <a:pPr algn="l">
              <a:lnSpc>
                <a:spcPct val="103000"/>
              </a:lnSpc>
              <a:spcAft>
                <a:spcPts val="120"/>
              </a:spcAft>
            </a:pPr>
            <a:r>
              <a:rPr lang="id-ID" sz="960">
                <a:solidFill>
                  <a:srgbClr val="3F4650"/>
                </a:solidFill>
                <a:latin typeface="Aptos"/>
              </a:rPr>
              <a:t>IndoTERM menyediakan elastisitas, bukan data waktu nyata. Kalibrasi ulang jika SAM, aturan penutupan, atau struktur model berubah.</a:t>
            </a:r>
            <a:endParaRPr lang="id-ID" sz="960"/>
          </a:p>
        </p:txBody>
      </p:sp>
      <p:sp>
        <p:nvSpPr>
          <p:cNvPr id="118" name="Sumber IndoTERM"/>
          <p:cNvSpPr txBox="1"/>
          <p:nvPr/>
        </p:nvSpPr>
        <p:spPr>
          <a:xfrm>
            <a:off x="6191250" y="617220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03000"/>
              </a:lnSpc>
              <a:spcAft>
                <a:spcPts val="120"/>
              </a:spcAft>
            </a:pPr>
            <a:r>
              <a:rPr lang="id-ID" sz="720" dirty="0">
                <a:solidFill>
                  <a:srgbClr val="3F4650"/>
                </a:solidFill>
                <a:latin typeface="Aptos"/>
              </a:rPr>
              <a:t>Sumber: catatan IndoTERM; Yusuf dkk. (2018); metodologi dashboard (25 Juni 2026).</a:t>
            </a:r>
            <a:endParaRPr lang="id-ID" sz="720" dirty="0"/>
          </a:p>
        </p:txBody>
      </p:sp>
    </p:spTree>
    <p:extLst>
      <p:ext uri="{BB962C8B-B14F-4D97-AF65-F5344CB8AC3E}">
        <p14:creationId xmlns:p14="http://schemas.microsoft.com/office/powerpoint/2010/main" val="255829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3_D2 Marves_Neww">
  <a:themeElements>
    <a:clrScheme name="Yellow Orange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782</Words>
  <Application>Microsoft Office PowerPoint</Application>
  <PresentationFormat>Widescreen</PresentationFormat>
  <Paragraphs>85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Noto Sans Symbols</vt:lpstr>
      <vt:lpstr>3_D2 Marves_Neww</vt:lpstr>
      <vt:lpstr>PHK Early Warning Dashboard Technical Notes</vt:lpstr>
      <vt:lpstr>Overview  PHK Early Warning Dashboard</vt:lpstr>
      <vt:lpstr>Executive Dashboard dan Peta Risiko PHK Layoff Pressure Index (LPI) </vt:lpstr>
      <vt:lpstr>Provincial Cluster &amp; Sectoral Risk Layoff Pressure Index (LPI) berdasarkan Cluster Sektoral dan Provinsi  </vt:lpstr>
      <vt:lpstr>Macro Sensitivity Leading Indicator Analysis  </vt:lpstr>
      <vt:lpstr>Macro Sensitivity Proyeksi PHK Provinsi (Model Fractional Logit)   </vt:lpstr>
      <vt:lpstr>Macro Sensitivity Labor Leading Indicator (LLI)    </vt:lpstr>
      <vt:lpstr>Monitor Tekanan Sektor-Provinsi Model Computable Generalized Equilibrium (CGE) IndoTERM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Bertha Fania Maula</dc:creator>
  <cp:lastModifiedBy>Tim Ginting</cp:lastModifiedBy>
  <cp:revision>3</cp:revision>
  <dcterms:created xsi:type="dcterms:W3CDTF">2025-01-12T13:34:24Z</dcterms:created>
  <dcterms:modified xsi:type="dcterms:W3CDTF">2026-06-30T12:53:44Z</dcterms:modified>
</cp:coreProperties>
</file>